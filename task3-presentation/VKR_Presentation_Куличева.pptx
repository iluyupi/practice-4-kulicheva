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52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— ТИТУЛЬНЫЙ
Замените все плейсхолдеры в скобках [] на реальные данные.
Тема — полностью как в приказе о закреплении. Не сокращайте.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— АКТУАЛЬНОСТЬ
Левая колонка: контекст — почему тема важна сейчас.
Правая колонка: проблема — конкретное противоречие, которое решает ваша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— ОБЪЕКТ/ПРЕДМЕТ/ЦЕЛЬ
Три строки — три ключевых элемента научного аппарата.
Объект шире предмета. Цель формулируется через глагол действия.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— ЗАДАЧИ
Обычно 4–6 задач. Каждая задача = один параграф/раздел работы.
Задачи должны «вытекать» из цели и соответствовать структуре ВКР.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— ТЕОРЕТИЧЕСКАЯ БАЗА
Четыре блока: теория, методы, данные, нормативка.
Не перечисляйте всё подряд — только ключевое.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— ОБЪЕКТ ИССЛЕДОВАНИЯ
Левая колонка: реквизиты и описание предприятия.
Правая: 4 ключевых цифры — самые важные показатели за последний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— ФИНАНСОВЫЕ РЕЗУЛЬТАТЫ
Вставьте диаграмму: Insert → Pictures → выберите charts/m1_revenue_trend.png.
Справа — 3 ключевых вывода из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— ФИНАНСОВОЕ СОСТОЯНИЕ
Вставьте heatmap из charts/m2_ratios_heatmap.png.
Внизу — четыре цифровых блока с итоговыми значениями по группам коэффициентов.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— ПРОБЛЕМЫ
Этот слайд — мост между анализом (гл. 2) и предложениями (гл. 3).
Каждая проблема должна быть подкреплена конкретными цифрами из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— МЕРОПРИЯТИЯ
Каждое мероприятие должно закрывать конкретную проблему со слайда 9.
Логика: Проблема 1 → Мероприятие 1, Проблема 2 → Мероприятие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 — ОСНОВНОЙ РЕЗУЛЬТАТ
Этот слайд — центральный. Покажите, что именно вы сделали.
Слева — описание, справа — схема/скриншот/модель.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 — ЭФФЕКТИВНОСТЬ
Четыре KPI вверху — главные числа обоснования.
Таблица внизу — сравнение конкретных показателей до и после внедрения.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13 — ВЫВОДЫ
Пять выводов — по одному на каждую задачу из слайда 4.
Итоговая строка внизу фиксирует достижение цели.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15 — ФИНАЛЬНЫЙ
Этот слайд остаётся на экране во время вопросов комиссии.
Замените все плейсхолдеры на реальные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50292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38.03.05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256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финансово-хозяйственной деятельности АО «Тандер» и направления повышения эффективности управления на основе цифровых технологий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2560320"/>
            <a:ext cx="8321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9748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ru-RU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Куличева</a:t>
            </a:r>
            <a:r>
              <a:rPr lang="ru-R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Ирина Алексеевна, группа БИЗ-Б-01-В-2022-1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</a:t>
            </a:r>
            <a:endParaRPr lang="en-US" sz="1200" dirty="0"/>
          </a:p>
          <a:p>
            <a:pPr marL="0" indent="0">
              <a:buNone/>
            </a:pPr>
            <a:r>
              <a:rPr lang="ru-RU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Заводчикова</a:t>
            </a:r>
            <a:r>
              <a:rPr lang="ru-R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Марфа Геннадиевна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подготовки: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38.03.05 «Бизнес-информатика»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исследования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234440"/>
            <a:ext cx="3886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Розничная торговля является одной из ключевых отраслей российской экономики, характеризующейся высокой конкуренцией и зависимостью от эффективности управления затратами и логистикой. В современных условиях компании вынуждены постоянно повышать операционную эффективность и внедрять цифровые технологии управления бизнес-процессами.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исследования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234440"/>
            <a:ext cx="3886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«Тандер» как крупнейший ритейлер России демонстрирует устойчивый рост выручки, однако сталкивается с ухудшением финансовых результатов и снижением рентабельности. Это формирует противоречие между масштабированием бизнеса и снижением его эффективности.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Объект, предмет и цель исследования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16128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914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исследования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20700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АО «Тандер»</a:t>
            </a:r>
            <a:endParaRPr lang="en-US" sz="1200" dirty="0">
              <a:solidFill>
                <a:srgbClr val="1A1A2E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3288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2860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исследования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57860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Финансово-хозяйственная деятельность предприятия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8595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90448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657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исследования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95020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финансово-хозяйственной деятельности АО «Тандер» и разработка направлений повышения эффективности управления на основе цифровых технологий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исследования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достижения поставленной цели решались следующие задачи: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8321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ru-RU" sz="13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проанализировать имущественное положение предприятия</a:t>
            </a:r>
            <a:endParaRPr lang="en-US" sz="1300" dirty="0">
              <a:solidFill>
                <a:srgbClr val="1A1A2E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ru-RU" sz="13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исследовать финансовые результаты деятельности </a:t>
            </a:r>
          </a:p>
          <a:p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ru-RU" sz="13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оценить финансовое состояние (ликвидность, устойчивость, рентабельность) </a:t>
            </a:r>
          </a:p>
          <a:p>
            <a:r>
              <a:rPr lang="ru-RU" sz="1300" b="1" dirty="0">
                <a:solidFill>
                  <a:srgbClr val="F5A623"/>
                </a:solidFill>
                <a:latin typeface="Calibri" pitchFamily="34" charset="0"/>
                <a:cs typeface="Calibri" pitchFamily="34" charset="-120"/>
              </a:rPr>
              <a:t>4 </a:t>
            </a:r>
            <a:r>
              <a:rPr lang="ru-RU" sz="13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 выявить ключевые проблемы в деятельности предприятия </a:t>
            </a:r>
          </a:p>
          <a:p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ru-RU" sz="13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разработать направления повышения эффективности управления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Теоретическая и методологическая база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96926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9692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Теоретическая база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90872" y="804672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55464" y="96926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30952" y="9692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исследования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55464" y="1542288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 синтез, сравнение, группировка, коэффициентный анализ, горизонтальный и вертикальный анализ, графический метод.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07792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" y="30723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072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база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" y="3645408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Бухгалтерская отчётность АО «Тандер», данные Росстата, отраслевые аналитические обзоры, сервис </a:t>
            </a:r>
            <a:r>
              <a:rPr lang="ru-RU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r>
              <a:rPr lang="ru-RU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907792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55464" y="30723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30952" y="3072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Нормативная база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55464" y="3645408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№402-ФЗ «О бухгалтерском учёте», ГК РФ, ПБУ, методические рекомендации Минфина РФ.</a:t>
            </a:r>
            <a:endParaRPr lang="en-US" sz="1000"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DFC88E6F-3AB0-4CBF-B70A-9B9CB388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" y="1308914"/>
            <a:ext cx="412003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000" dirty="0">
              <a:solidFill>
                <a:srgbClr val="1A1A2E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10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Савицкая Г.В. «Анализ хозяйственной деятельности предприятия»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Шеремет А.Д. «Финансовый анализ»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Ковалёв В.В. «Финансовый менеджмент»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Бланк И.А. «Финансовый анализ и управление»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Иванов И.Н., Козлова Е.В. — статьи по финансовой устойчивости (ВАК)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10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Монографии по анализу финансовой отчётности организаций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Характеристика объекта исследования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5029200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932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предприятии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</a:t>
            </a: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наименование</a:t>
            </a: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Акционерное общество «Тандер»</a:t>
            </a:r>
            <a:endParaRPr lang="ru-RU" sz="1100" b="1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ИНН: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231003147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</a:t>
            </a:r>
            <a:r>
              <a:rPr lang="en-US" sz="1100" b="1" dirty="0" err="1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</a:t>
            </a: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деятельности</a:t>
            </a:r>
            <a:r>
              <a:rPr lang="ru-RU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47.11 — розничная торговля преимущественно пищевыми продуктами, напитками и табачными изделиями в неспециализированных магазинах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ОПФ: 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Акционерное общество (АО)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 err="1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r>
              <a:rPr lang="en-US" sz="1100" b="1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регистрации: </a:t>
            </a:r>
            <a:r>
              <a:rPr lang="ru-RU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27.06.1994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«Тандер» является крупнейшей операционной компанией розничной сети «Магнит» и осуществляет деятельность в сфере розничной торговли продуктами питания и товарами повседневного спроса. </a:t>
            </a:r>
            <a:b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представлена на территории всей Российской Федерации и включает магазины различных форматов: «у дома», супермаркеты и дрогери. Существенное внимание уделяется развитию логистической инфраструктуры, распределительных центров и цифровых технологий управления запасами.</a:t>
            </a:r>
            <a:b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деятельности характеризуется высокой долей рынка и значительным товарооборотом, что делает предприятие одним из ключевых игроков российской розничной торговли.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804672"/>
            <a:ext cx="3291840" cy="3913632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914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показатели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ru-RU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572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3 509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</a:t>
            </a:r>
            <a:r>
              <a:rPr lang="ru-RU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рд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руб.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0" y="1956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2350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-22 477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руб.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2734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прибыль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3127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1 651 712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трлн.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руб.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0" y="3511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Валюта баланса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3904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4,55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0" y="4288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Рентабельность продаж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финансово-хозяйственной деятельности: финансовые результаты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5669280" cy="3200400"/>
          </a:xfrm>
          <a:prstGeom prst="rect">
            <a:avLst/>
          </a:prstGeom>
          <a:solidFill>
            <a:srgbClr val="EEF2FC"/>
          </a:solidFill>
          <a:ln w="12700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Вставьте сюда диаграмму из module1_matplotlib.py — График 1 (динамика выручки и прибыли)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804672"/>
            <a:ext cx="2743200" cy="32644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выводы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120091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Выручка предприятия демонстрирует устойчивый рост за 2023–2025 гг., увеличившись более чем на 700 млрд руб.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Чистая прибыль имеет отрицательную динамику и к 2025 году переходит в убыток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Рентабельность продаж снижается, что указывает на рост затрат и давление издержек на финансовый результат.</a:t>
            </a:r>
            <a:endParaRPr lang="en-US" sz="1100" dirty="0">
              <a:solidFill>
                <a:srgbClr val="1A1A2E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40690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1 — Динамика выручки и чистой прибыли, тыс. руб.</a:t>
            </a:r>
            <a:endParaRPr lang="en-US" sz="9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B7BBAD9-C0A6-470D-A13A-13D2B93C4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52" y="754379"/>
            <a:ext cx="5717668" cy="33147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финансово-хозяйственной деятельности: финансовое состояние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3154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Ликвидность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</a:t>
            </a:r>
            <a:r>
              <a:rPr lang="en-US" sz="1000" dirty="0" err="1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154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Уст-ть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0,12-0,17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нормы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154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Дел. актив.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E8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1,74-2,00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рост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3154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Рент-ть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E8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-11,1%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2 — Финансовые коэффициенты предприятия, 2022–2024</a:t>
            </a:r>
            <a:endParaRPr lang="en-US" sz="9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14C477F-CE01-4944-A34B-D08CE365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6" y="754835"/>
            <a:ext cx="7790688" cy="22443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Выявленные проблемы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результатам анализа выявлены следующие проблемы: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56032" cy="10972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ru-RU" sz="12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Снижение чистой прибыли при росте выручки</a:t>
            </a:r>
            <a:endParaRPr lang="en-US" sz="1200" b="1" dirty="0">
              <a:solidFill>
                <a:srgbClr val="1E276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1527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/>
              <a:t>Несмотря на рост выручки с </a:t>
            </a:r>
            <a:r>
              <a:rPr lang="ru-RU" sz="1100" b="1" dirty="0"/>
              <a:t>2 314 млрд руб. до 3 050 млрд руб. (+31,8%)</a:t>
            </a:r>
            <a:r>
              <a:rPr lang="ru-RU" sz="1100" dirty="0"/>
              <a:t>, чистая прибыль снизилась с </a:t>
            </a:r>
            <a:r>
              <a:rPr lang="ru-RU" sz="1100" b="1" dirty="0"/>
              <a:t>62,9 млрд руб. до –22,5 млрд руб.</a:t>
            </a:r>
            <a:br>
              <a:rPr lang="ru-RU" sz="1100" dirty="0"/>
            </a:br>
            <a:r>
              <a:rPr lang="ru-RU" sz="1100" dirty="0"/>
              <a:t>Это свидетельствует о росте издержек и ухудшении структуры расходов предприятия.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04872"/>
            <a:ext cx="256032" cy="10972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4963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2: </a:t>
            </a:r>
            <a:r>
              <a:rPr lang="ru-RU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долговая нагрузка предприятия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788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/>
              <a:t>Коэффициент автономии в 2023–2025 гг. снизился с </a:t>
            </a:r>
            <a:r>
              <a:rPr lang="ru-RU" sz="1100" b="1" dirty="0"/>
              <a:t>0,15 до 0,12</a:t>
            </a:r>
            <a:r>
              <a:rPr lang="ru-RU" sz="1100" dirty="0"/>
              <a:t> при нормативе </a:t>
            </a:r>
            <a:r>
              <a:rPr lang="ru-RU" sz="1100" b="1" dirty="0"/>
              <a:t>≥ 0,5</a:t>
            </a:r>
            <a:r>
              <a:rPr lang="ru-RU" sz="1100" dirty="0"/>
              <a:t>.</a:t>
            </a:r>
            <a:br>
              <a:rPr lang="ru-RU" sz="1100" dirty="0"/>
            </a:br>
            <a:r>
              <a:rPr lang="ru-RU" sz="1100" dirty="0"/>
              <a:t>Это указывает на крайне низкую долю собственных средств и высокую зависимость от внешнего финансирования.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66744"/>
            <a:ext cx="256032" cy="10972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58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r>
              <a:rPr lang="ru-RU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Снижение рентабельности активов и капитала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050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dirty="0"/>
              <a:t>Рентабельность продаж снизилась с </a:t>
            </a:r>
            <a:r>
              <a:rPr lang="ru-RU" sz="1100" b="1" dirty="0"/>
              <a:t>5,11% до 4,55%</a:t>
            </a:r>
            <a:r>
              <a:rPr lang="ru-RU" sz="1100" dirty="0"/>
              <a:t>,</a:t>
            </a:r>
            <a:br>
              <a:rPr lang="ru-RU" sz="1100" dirty="0"/>
            </a:br>
            <a:r>
              <a:rPr lang="ru-RU" sz="1100" dirty="0"/>
              <a:t>ROA ушёл в отрицательную зону (</a:t>
            </a:r>
            <a:r>
              <a:rPr lang="ru-RU" sz="1100" b="1" dirty="0"/>
              <a:t>–1,4%</a:t>
            </a:r>
            <a:r>
              <a:rPr lang="ru-RU" sz="1100" dirty="0"/>
              <a:t>), ROE также стал отрицательным (</a:t>
            </a:r>
            <a:r>
              <a:rPr lang="ru-RU" sz="1100" b="1" dirty="0"/>
              <a:t>–11,1%</a:t>
            </a:r>
            <a:r>
              <a:rPr lang="ru-RU" sz="1100" dirty="0"/>
              <a:t>).</a:t>
            </a:r>
            <a:br>
              <a:rPr lang="ru-RU" sz="1100" dirty="0"/>
            </a:br>
            <a:r>
              <a:rPr lang="ru-RU" sz="1100" dirty="0"/>
              <a:t>Это отражает снижение эффективности использования активов и капитала.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Предлагаемые мероприятия / рекомендации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целях решения выявленных проблем предлагается: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4356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188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Мероприятие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49961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/>
              <a:t>Внедрение BI-системы анализа данных</a:t>
            </a:r>
            <a:br>
              <a:rPr lang="ru-RU" sz="1100" dirty="0"/>
            </a:br>
            <a:r>
              <a:rPr lang="ru-RU" sz="1100" dirty="0"/>
              <a:t>Внедрение системы бизнес-аналитики для мониторинга продаж, затрат и рентабельности в режиме реального времени. Срок реализации — 6 месяцев. Ответственные: финансовый директор и IT-департамент.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697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Мероприятие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76148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/>
              <a:t>Оптимизация логистических процессов</a:t>
            </a:r>
            <a:br>
              <a:rPr lang="ru-RU" sz="1100" dirty="0"/>
            </a:br>
            <a:r>
              <a:rPr lang="ru-RU" sz="1100" dirty="0"/>
              <a:t>Автоматизация управления складскими запасами и маршрутизации поставок с использованием цифровых систем прогнозирования спроса. Срок — 8 месяцев.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9593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124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Мероприятие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/>
              <a:t>Цифровое управление запасами</a:t>
            </a:r>
            <a:br>
              <a:rPr lang="ru-RU" sz="1100" dirty="0"/>
            </a:br>
            <a:r>
              <a:rPr lang="ru-RU" sz="1100" dirty="0"/>
              <a:t>Внедрение системы прогнозирования спроса на основе исторических данных и машинного обучения. Срок — 6–12 месяцев.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основного результата работы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[Название разработки / проекта / модели / инструмента]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810512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аналитический инструмент оценки финансового состояния предприятия на основе Python и библиотек визуализации данных (</a:t>
            </a:r>
            <a:r>
              <a:rPr lang="ru-RU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включает: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автоматическую обработку бухгалтерской отчётности;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ключевых финансовых коэффициентов;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визуализацию динамики показателей в виде графиков;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аналитических выводов по каждому блоку показателей.</a:t>
            </a:r>
          </a:p>
          <a:p>
            <a:pPr marL="0" indent="0">
              <a:buNone/>
            </a:pPr>
            <a:endParaRPr lang="ru-RU" sz="11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ru-RU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позволяет выявлять проблемные зоны предприятия и принимать обоснованные управленческие решения. Инструмент может использоваться для регулярного мониторинга финансового состояния организации.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89888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 / схема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810512"/>
            <a:ext cx="3931920" cy="2651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ADCFC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Вставьте схему, скриншот, диаграмму или иную визуализацию разработки ]</a:t>
            </a:r>
            <a:endParaRPr lang="en-US" sz="11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1937E30-234E-4E07-B05C-6C5C8324E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848" y="1737360"/>
            <a:ext cx="3951056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экономической эффективности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841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 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8600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тыс. руб.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6642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на реализацию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841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тыс. руб.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16642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эффект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841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6642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окупаемости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77724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8412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12280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16642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176272"/>
            <a:ext cx="868680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267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показателей: до и после внедрения</a:t>
            </a:r>
            <a:endParaRPr lang="en-US" sz="1200" dirty="0"/>
          </a:p>
        </p:txBody>
      </p:sp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521E370B-8DC2-4181-9028-FD95E4DB1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807158"/>
              </p:ext>
            </p:extLst>
          </p:nvPr>
        </p:nvGraphicFramePr>
        <p:xfrm>
          <a:off x="400050" y="2716706"/>
          <a:ext cx="7886700" cy="12192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84301798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21764101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66683798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74491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000" kern="1200" dirty="0">
                          <a:solidFill>
                            <a:srgbClr val="1A1A2E"/>
                          </a:solidFill>
                        </a:rPr>
                        <a:t>Показатель</a:t>
                      </a:r>
                      <a:endParaRPr lang="ru-RU" sz="1000" kern="1200" dirty="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До внедрения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После внедрения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Изменение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386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200" dirty="0">
                          <a:solidFill>
                            <a:srgbClr val="1A1A2E"/>
                          </a:solidFill>
                        </a:rPr>
                        <a:t>Рентабельность продаж</a:t>
                      </a:r>
                      <a:endParaRPr lang="ru-RU" sz="1000" kern="1200" dirty="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4,55%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6,20%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+1,65 п.п.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40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Операционные затраты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 dirty="0">
                          <a:solidFill>
                            <a:srgbClr val="1A1A2E"/>
                          </a:solidFill>
                        </a:rPr>
                        <a:t>Высокие</a:t>
                      </a:r>
                      <a:endParaRPr lang="ru-RU" sz="1000" kern="1200" dirty="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 dirty="0">
                          <a:solidFill>
                            <a:srgbClr val="1A1A2E"/>
                          </a:solidFill>
                        </a:rPr>
                        <a:t>Снижены</a:t>
                      </a:r>
                      <a:endParaRPr lang="ru-RU" sz="1000" kern="1200" dirty="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↓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960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Эффективность запасов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Средняя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 dirty="0">
                          <a:solidFill>
                            <a:srgbClr val="1A1A2E"/>
                          </a:solidFill>
                        </a:rPr>
                        <a:t>Высокая</a:t>
                      </a:r>
                      <a:endParaRPr lang="ru-RU" sz="1000" kern="1200" dirty="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↑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776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Скорость принятия решений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Низкая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>
                          <a:solidFill>
                            <a:srgbClr val="1A1A2E"/>
                          </a:solidFill>
                        </a:rPr>
                        <a:t>Высокая</a:t>
                      </a:r>
                      <a:endParaRPr lang="ru-RU" sz="1000" kern="120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000" kern="1200" dirty="0">
                          <a:solidFill>
                            <a:srgbClr val="1A1A2E"/>
                          </a:solidFill>
                        </a:rPr>
                        <a:t>↑</a:t>
                      </a:r>
                      <a:endParaRPr lang="ru-RU" sz="1000" kern="1200" dirty="0">
                        <a:solidFill>
                          <a:srgbClr val="1A1A2E"/>
                        </a:solidFill>
                        <a:latin typeface="Calibri" pitchFamily="34" charset="0"/>
                        <a:cs typeface="Calibri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78406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заключение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РГСУ · Направление 38.03.05 «Бизнес-информатика» · [Фамилия И.О.] ·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результате выполнения выпускной квалификационной работы: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8321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5000"/>
              </a:lnSpc>
              <a:buFont typeface="+mj-lt"/>
              <a:buAutoNum type="arabicPeriod"/>
            </a:pPr>
            <a:r>
              <a:rPr lang="ru-RU" sz="1200" dirty="0">
                <a:solidFill>
                  <a:srgbClr val="3D4A6B"/>
                </a:solidFill>
                <a:latin typeface="Calibri" pitchFamily="34" charset="0"/>
                <a:cs typeface="Calibri" pitchFamily="34" charset="-120"/>
              </a:rPr>
              <a:t>Изучены теоретические основы финансового анализа, систематизированы подходы к оценке деятельности предприятия.</a:t>
            </a:r>
          </a:p>
          <a:p>
            <a:pPr marL="228600" indent="-228600">
              <a:lnSpc>
                <a:spcPct val="145000"/>
              </a:lnSpc>
              <a:buFont typeface="+mj-lt"/>
              <a:buAutoNum type="arabicPeriod"/>
            </a:pPr>
            <a:r>
              <a:rPr lang="ru-RU" sz="1200" dirty="0">
                <a:solidFill>
                  <a:srgbClr val="3D4A6B"/>
                </a:solidFill>
                <a:latin typeface="Calibri" pitchFamily="34" charset="0"/>
                <a:cs typeface="Calibri" pitchFamily="34" charset="-120"/>
              </a:rPr>
              <a:t>Проведён анализ финансово-хозяйственной деятельности АО «Тандер», выявлено снижение финансовой устойчивости при росте масштабов бизнеса.</a:t>
            </a:r>
          </a:p>
          <a:p>
            <a:pPr marL="228600" indent="-228600">
              <a:lnSpc>
                <a:spcPct val="145000"/>
              </a:lnSpc>
              <a:buFont typeface="+mj-lt"/>
              <a:buAutoNum type="arabicPeriod"/>
            </a:pPr>
            <a:r>
              <a:rPr lang="ru-RU" sz="1200" dirty="0">
                <a:solidFill>
                  <a:srgbClr val="3D4A6B"/>
                </a:solidFill>
                <a:latin typeface="Calibri" pitchFamily="34" charset="0"/>
                <a:cs typeface="Calibri" pitchFamily="34" charset="-120"/>
              </a:rPr>
              <a:t>Определены ключевые проблемы: высокая долговая нагрузка, снижение рентабельности, отрицательная чистая прибыль.</a:t>
            </a:r>
          </a:p>
          <a:p>
            <a:pPr marL="228600" indent="-228600">
              <a:lnSpc>
                <a:spcPct val="145000"/>
              </a:lnSpc>
              <a:buFont typeface="+mj-lt"/>
              <a:buAutoNum type="arabicPeriod"/>
            </a:pPr>
            <a:r>
              <a:rPr lang="ru-RU" sz="1200" dirty="0">
                <a:solidFill>
                  <a:srgbClr val="3D4A6B"/>
                </a:solidFill>
                <a:latin typeface="Calibri" pitchFamily="34" charset="0"/>
                <a:cs typeface="Calibri" pitchFamily="34" charset="-120"/>
              </a:rPr>
              <a:t>Разработаны мероприятия по повышению эффективности: внедрение BI-систем, оптимизация логистики, цифровое управление запасами.</a:t>
            </a:r>
          </a:p>
          <a:p>
            <a:pPr marL="228600" indent="-228600">
              <a:lnSpc>
                <a:spcPct val="145000"/>
              </a:lnSpc>
              <a:buFont typeface="+mj-lt"/>
              <a:buAutoNum type="arabicPeriod"/>
            </a:pPr>
            <a:r>
              <a:rPr lang="ru-RU" sz="1200" dirty="0">
                <a:solidFill>
                  <a:srgbClr val="3D4A6B"/>
                </a:solidFill>
                <a:latin typeface="Calibri" pitchFamily="34" charset="0"/>
                <a:cs typeface="Calibri" pitchFamily="34" charset="-120"/>
              </a:rPr>
              <a:t>Обоснована экономическая эффективность предложенных решений: ожидаемый эффект 1 800 000 тыс. руб., срок окупаемости менее 1 года.</a:t>
            </a:r>
            <a:endParaRPr lang="en-US" sz="1200" dirty="0">
              <a:solidFill>
                <a:srgbClr val="3D4A6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42519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исследования достигнута, все задачи решены в полном объёме.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Благодарю за внимание!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4864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84832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Куличева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Ирина Алексеевна</a:t>
            </a:r>
            <a:b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Направление: 38.03.05 «Бизнес-информатика»
</a:t>
            </a:r>
            <a:endParaRPr lang="en-US" sz="1600" dirty="0"/>
          </a:p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</a:t>
            </a:r>
            <a:r>
              <a:rPr lang="ru-RU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Заводчикова</a:t>
            </a:r>
            <a:r>
              <a:rPr lang="ru-R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Марфа Геннадиевна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[email@rgsu.ru]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Готов(а) ответить на вопросы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1798</Words>
  <Application>Microsoft Office PowerPoint</Application>
  <PresentationFormat>Экран (16:9)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ВКР — Бизнес-информатика</dc:title>
  <dc:subject>PptxGenJS Presentation</dc:subject>
  <dc:creator>РГСУ, кафедра бизнес-информатики</dc:creator>
  <cp:lastModifiedBy>ириша</cp:lastModifiedBy>
  <cp:revision>5</cp:revision>
  <dcterms:created xsi:type="dcterms:W3CDTF">2026-06-03T16:06:49Z</dcterms:created>
  <dcterms:modified xsi:type="dcterms:W3CDTF">2026-06-13T12:53:47Z</dcterms:modified>
</cp:coreProperties>
</file>